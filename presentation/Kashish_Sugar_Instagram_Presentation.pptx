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c891dc14-1c48-2e4d-91d0-ba42241e7bf5}">
          <p14:sldIdLst>
            <p14:sldId id="256"/>
            <p14:sldId id="257"/>
          </p14:sldIdLst>
        </p14:section>
        <p14:section name="Findings" id="{f9f6dd2a-5110-1425-b89f-8a45054bc1ba}">
          <p14:sldIdLst>
            <p14:sldId id="258"/>
            <p14:sldId id="259"/>
            <p14:sldId id="260"/>
            <p14:sldId id="261"/>
          </p14:sldIdLst>
        </p14:section>
        <p14:section name="Action" id="{7dc6a718-4e0c-306b-e500-f090dc890122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2F"/>
                </a:solidFill>
                <a:latin typeface="+mn-lt"/>
              </a:rPr>
              <a:t>Engagement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967A"/>
              </a:solidFill>
              <a:effectLst/>
            </c:spPr>
          </c:dPt>
          <c:dPt>
            <c:idx val="1"/>
            <c:bubble3D val="0"/>
            <c:spPr>
              <a:solidFill>
                <a:srgbClr val="C98500"/>
              </a:solidFill>
              <a:effectLst/>
            </c:spPr>
          </c:dPt>
          <c:dPt>
            <c:idx val="2"/>
            <c:bubble3D val="0"/>
            <c:spPr>
              <a:solidFill>
                <a:srgbClr val="9085E9"/>
              </a:solidFill>
              <a:effectLst/>
            </c:spPr>
          </c:dPt>
          <c:dPt>
            <c:idx val="3"/>
            <c:bubble3D val="0"/>
            <c:spPr>
              <a:solidFill>
                <a:srgbClr val="F276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Likes</c:v>
                </c:pt>
                <c:pt idx="1">
                  <c:v>Comments</c:v>
                </c:pt>
                <c:pt idx="2">
                  <c:v>Shares</c:v>
                </c:pt>
                <c:pt idx="3">
                  <c:v>Saves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147728279</c:v>
                </c:pt>
                <c:pt idx="1">
                  <c:v>18459361</c:v>
                </c:pt>
                <c:pt idx="2">
                  <c:v>8115338</c:v>
                </c:pt>
                <c:pt idx="3">
                  <c:v>8861439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45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2F"/>
                </a:solidFill>
                <a:latin typeface="+mn-lt"/>
              </a:rPr>
              <a:t>ER vs account average, by format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Story  +0.41%</c:v>
                  </c:pt>
                  <c:pt idx="1">
                    <c:v>Reel  +0.25%</c:v>
                  </c:pt>
                  <c:pt idx="2">
                    <c:v>Video  +0.06%</c:v>
                  </c:pt>
                  <c:pt idx="3">
                    <c:v>Image  -0.72%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0.25</c:v>
                </c:pt>
                <c:pt idx="2">
                  <c:v>0.06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Story  +0.41%</c:v>
                  </c:pt>
                  <c:pt idx="1">
                    <c:v>Reel  +0.25%</c:v>
                  </c:pt>
                  <c:pt idx="2">
                    <c:v>Video  +0.06%</c:v>
                  </c:pt>
                  <c:pt idx="3">
                    <c:v>Image  -0.72%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E6E3"/>
              </a:solidFill>
              <a:prstDash val="solid"/>
              <a:round/>
            </a:ln>
          </c:spPr>
        </c:majorGridlines>
        <c:numFmt formatCode="+0.0&quot;%&quot;;-0.0&quot;%&quot;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2F"/>
                </a:solidFill>
                <a:latin typeface="+mn-lt"/>
              </a:rPr>
              <a:t>ER vs account average, by day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Fri  +0.32%</c:v>
                  </c:pt>
                  <c:pt idx="1">
                    <c:v>Sat  +0.24%</c:v>
                  </c:pt>
                  <c:pt idx="2">
                    <c:v>Tue  +0.05%</c:v>
                  </c:pt>
                  <c:pt idx="3">
                    <c:v>Wed  +0.03%</c:v>
                  </c:pt>
                  <c:pt idx="4">
                    <c:v>Thu  -0.07%</c:v>
                  </c:pt>
                  <c:pt idx="5">
                    <c:v>Mon  -0.14%</c:v>
                  </c:pt>
                  <c:pt idx="6">
                    <c:v>Sun  -0.43%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0.32</c:v>
                </c:pt>
                <c:pt idx="1">
                  <c:v>0.24</c:v>
                </c:pt>
                <c:pt idx="2">
                  <c:v>0.05</c:v>
                </c:pt>
                <c:pt idx="3">
                  <c:v>0.03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Fri  +0.32%</c:v>
                  </c:pt>
                  <c:pt idx="1">
                    <c:v>Sat  +0.24%</c:v>
                  </c:pt>
                  <c:pt idx="2">
                    <c:v>Tue  +0.05%</c:v>
                  </c:pt>
                  <c:pt idx="3">
                    <c:v>Wed  +0.03%</c:v>
                  </c:pt>
                  <c:pt idx="4">
                    <c:v>Thu  -0.07%</c:v>
                  </c:pt>
                  <c:pt idx="5">
                    <c:v>Mon  -0.14%</c:v>
                  </c:pt>
                  <c:pt idx="6">
                    <c:v>Sun  -0.43%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-0.07</c:v>
                </c:pt>
                <c:pt idx="5">
                  <c:v>-0.14</c:v>
                </c:pt>
                <c:pt idx="6">
                  <c:v>-0.43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E6E3"/>
              </a:solidFill>
              <a:prstDash val="solid"/>
              <a:round/>
            </a:ln>
          </c:spPr>
        </c:majorGridlines>
        <c:numFmt formatCode="+0.0&quot;%&quot;;-0.0&quot;%&quot;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2F"/>
                </a:solidFill>
                <a:latin typeface="+mn-lt"/>
              </a:rPr>
              <a:t>ER vs account average, by campaign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Influencer Collab  +0.44%</c:v>
                  </c:pt>
                  <c:pt idx="1">
                    <c:v>Tutorial  +0.21%</c:v>
                  </c:pt>
                  <c:pt idx="2">
                    <c:v>Giveaway  +0.04%</c:v>
                  </c:pt>
                  <c:pt idx="3">
                    <c:v>Product Launch  -0.16%</c:v>
                  </c:pt>
                  <c:pt idx="4">
                    <c:v>Festive Offer  -0.54%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</c:v>
                </c:pt>
                <c:pt idx="1">
                  <c:v>0.21</c:v>
                </c:pt>
                <c:pt idx="2">
                  <c:v>0.04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Influencer Collab  +0.44%</c:v>
                  </c:pt>
                  <c:pt idx="1">
                    <c:v>Tutorial  +0.21%</c:v>
                  </c:pt>
                  <c:pt idx="2">
                    <c:v>Giveaway  +0.04%</c:v>
                  </c:pt>
                  <c:pt idx="3">
                    <c:v>Product Launch  -0.16%</c:v>
                  </c:pt>
                  <c:pt idx="4">
                    <c:v>Festive Offer  -0.54%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-0.16</c:v>
                </c:pt>
                <c:pt idx="4">
                  <c:v>-0.54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E6E3"/>
              </a:solidFill>
              <a:prstDash val="solid"/>
              <a:round/>
            </a:ln>
          </c:spPr>
        </c:majorGridlines>
        <c:numFmt formatCode="+0.0&quot;%&quot;;-0.0&quot;%&quot;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2F"/>
                </a:solidFill>
                <a:latin typeface="+mn-lt"/>
              </a:rPr>
              <a:t>ER vs account average, by hashtag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#VeganBeauty  +0.58%</c:v>
                  </c:pt>
                  <c:pt idx="1">
                    <c:v>#BoldLooks  +0.20%</c:v>
                  </c:pt>
                  <c:pt idx="2">
                    <c:v>#MakeupGoals  +0.00%</c:v>
                  </c:pt>
                  <c:pt idx="3">
                    <c:v>#CrueltyFree  -0.03%</c:v>
                  </c:pt>
                  <c:pt idx="4">
                    <c:v>#SugarCosmetics  -0.19%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</c:v>
                </c:pt>
                <c:pt idx="1">
                  <c:v>0.2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#VeganBeauty  +0.58%</c:v>
                  </c:pt>
                  <c:pt idx="1">
                    <c:v>#BoldLooks  +0.20%</c:v>
                  </c:pt>
                  <c:pt idx="2">
                    <c:v>#MakeupGoals  +0.00%</c:v>
                  </c:pt>
                  <c:pt idx="3">
                    <c:v>#CrueltyFree  -0.03%</c:v>
                  </c:pt>
                  <c:pt idx="4">
                    <c:v>#SugarCosmetics  -0.19%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-0.03</c:v>
                </c:pt>
                <c:pt idx="4">
                  <c:v>-0.19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E6E3"/>
              </a:solidFill>
              <a:prstDash val="solid"/>
              <a:round/>
            </a:ln>
          </c:spPr>
        </c:majorGridlines>
        <c:numFmt formatCode="+0.0&quot;%&quot;;-0.0&quot;%&quot;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2F"/>
                </a:solidFill>
                <a:latin typeface="+mn-lt"/>
              </a:rPr>
              <a:t>ER vs account average, by source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Above avg</c:v>
                </c:pt>
              </c:strCache>
            </c:strRef>
          </c:tx>
          <c:spPr>
            <a:solidFill>
              <a:srgbClr val="149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Influencer  +0.56%</c:v>
                  </c:pt>
                  <c:pt idx="1">
                    <c:v>Collab  +0.44%</c:v>
                  </c:pt>
                  <c:pt idx="2">
                    <c:v>Paid  -0.02%</c:v>
                  </c:pt>
                  <c:pt idx="3">
                    <c:v>Organic  -0.97%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</c:v>
                </c:pt>
                <c:pt idx="1">
                  <c:v>0.44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avg</c:v>
                </c:pt>
              </c:strCache>
            </c:strRef>
          </c:tx>
          <c:spPr>
            <a:solidFill>
              <a:srgbClr val="F27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Influencer  +0.56%</c:v>
                  </c:pt>
                  <c:pt idx="1">
                    <c:v>Collab  +0.44%</c:v>
                  </c:pt>
                  <c:pt idx="2">
                    <c:v>Paid  -0.02%</c:v>
                  </c:pt>
                  <c:pt idx="3">
                    <c:v>Organic  -0.97%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-0.02</c:v>
                </c:pt>
                <c:pt idx="3">
                  <c:v>-0.97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E6E3"/>
              </a:solidFill>
              <a:prstDash val="solid"/>
              <a:round/>
            </a:ln>
          </c:spPr>
        </c:majorGridlines>
        <c:numFmt formatCode="+0.0&quot;%&quot;;-0.0&quot;%&quot;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5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find what drives engagement on Sugar's Instagram and turn it into a posting playbook.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rate here is weighted: total engagements divided by total reach. The simple post average is 18.54%, nearly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Saves and shares are the algorithm's strongest signals and they are under 1% of reach. That is the biggest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Differences are under 1% relative to the average. Treat as fine-tuning, not a growth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+ Tutorial and Reel + Influencer Collab are the combinations to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Influencer and Collab sources lead. Organic is the weakest source by about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playbook turns each insight into an action the content team can start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tracked on the Streamlit dashboard (Funnel and KPI pages).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recommending the extra data fields so the next review can answer timing and ROI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7FD3B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</a:rPr>
              <a:t>Kashish Haresh Sonar  ·  Sugar Cosmetics Instagram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Sugar Cosmetics on Instagram: what really drives engagement?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FD3B2"/>
                </a:solidFill>
              </a:rPr>
              <a:t>Content performance analysis · 50,000 posts · Apr 2024 – Apr 2025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Kashish Haresh Sonar  |  Labmentrix Data Analytics Project</a:t>
            </a:r>
            <a:endParaRPr lang="en-US" sz="1800" dirty="0"/>
          </a:p>
        </p:txBody>
      </p:sp>
      <p:sp>
        <p:nvSpPr>
          <p:cNvPr id="4" name="Cover stat 1"/>
          <p:cNvSpPr/>
          <p:nvPr/>
        </p:nvSpPr>
        <p:spPr>
          <a:xfrm>
            <a:off x="9144000" y="14630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123A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0" y="1572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FD3B2"/>
                </a:solidFill>
              </a:rPr>
              <a:t>50K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posts</a:t>
            </a:r>
            <a:endParaRPr lang="en-US" sz="1300" dirty="0"/>
          </a:p>
        </p:txBody>
      </p:sp>
      <p:sp>
        <p:nvSpPr>
          <p:cNvPr id="7" name="Cover stat 2"/>
          <p:cNvSpPr/>
          <p:nvPr/>
        </p:nvSpPr>
        <p:spPr>
          <a:xfrm>
            <a:off x="9144000" y="2834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123A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0" y="29443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FD3B2"/>
                </a:solidFill>
              </a:rPr>
              <a:t>987M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3493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reach</a:t>
            </a:r>
            <a:endParaRPr lang="en-US" sz="1300" dirty="0"/>
          </a:p>
        </p:txBody>
      </p:sp>
      <p:sp>
        <p:nvSpPr>
          <p:cNvPr id="10" name="Cover stat 3"/>
          <p:cNvSpPr/>
          <p:nvPr/>
        </p:nvSpPr>
        <p:spPr>
          <a:xfrm>
            <a:off x="9144000" y="42062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123A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0" y="4315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FD3B2"/>
                </a:solidFill>
              </a:rPr>
              <a:t>18.55%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4864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engagement rate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ACCOUNT SCORECARD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Huge reach, steady output, 18.55% engagement rate</a:t>
            </a:r>
            <a:endParaRPr lang="en-US" sz="3000" dirty="0"/>
          </a:p>
        </p:txBody>
      </p:sp>
      <p:sp>
        <p:nvSpPr>
          <p:cNvPr id="4" name="KPI posts published"/>
          <p:cNvSpPr/>
          <p:nvPr/>
        </p:nvSpPr>
        <p:spPr>
          <a:xfrm>
            <a:off x="59436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50,000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posts published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</a:rPr>
              <a:t>~4,170 per full month</a:t>
            </a:r>
            <a:endParaRPr lang="en-US" sz="1300" dirty="0"/>
          </a:p>
        </p:txBody>
      </p:sp>
      <p:sp>
        <p:nvSpPr>
          <p:cNvPr id="8" name="KPI impressions"/>
          <p:cNvSpPr/>
          <p:nvPr/>
        </p:nvSpPr>
        <p:spPr>
          <a:xfrm>
            <a:off x="43434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1.28B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impressions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</a:rPr>
              <a:t>77.4% become unique reach</a:t>
            </a:r>
            <a:endParaRPr lang="en-US" sz="1300" dirty="0"/>
          </a:p>
        </p:txBody>
      </p:sp>
      <p:sp>
        <p:nvSpPr>
          <p:cNvPr id="12" name="KPI reach"/>
          <p:cNvSpPr/>
          <p:nvPr/>
        </p:nvSpPr>
        <p:spPr>
          <a:xfrm>
            <a:off x="80924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987.4M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</a:rPr>
              <a:t>19.7K per post on average</a:t>
            </a:r>
            <a:endParaRPr lang="en-US" sz="1300" dirty="0"/>
          </a:p>
        </p:txBody>
      </p:sp>
      <p:sp>
        <p:nvSpPr>
          <p:cNvPr id="16" name="KPI likes"/>
          <p:cNvSpPr/>
          <p:nvPr/>
        </p:nvSpPr>
        <p:spPr>
          <a:xfrm>
            <a:off x="59436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06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147.7M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likes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</a:rPr>
              <a:t>81% of all engagement</a:t>
            </a:r>
            <a:endParaRPr lang="en-US" sz="1300" dirty="0"/>
          </a:p>
        </p:txBody>
      </p:sp>
      <p:sp>
        <p:nvSpPr>
          <p:cNvPr id="20" name="KPI comments"/>
          <p:cNvSpPr/>
          <p:nvPr/>
        </p:nvSpPr>
        <p:spPr>
          <a:xfrm>
            <a:off x="434340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7720" y="4206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18.5M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comments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</a:rPr>
              <a:t>1.9% of reached users comment</a:t>
            </a:r>
            <a:endParaRPr lang="en-US" sz="1300" dirty="0"/>
          </a:p>
        </p:txBody>
      </p:sp>
      <p:sp>
        <p:nvSpPr>
          <p:cNvPr id="24" name="KPI new follows"/>
          <p:cNvSpPr/>
          <p:nvPr/>
        </p:nvSpPr>
        <p:spPr>
          <a:xfrm>
            <a:off x="80924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4206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8.87M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new follows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</a:rPr>
              <a:t>29.9% of profile visitors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INSIGHT 1 · FUNNEL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Engagement is wide but shallow: 4 in 5 interactions are likes</a:t>
            </a:r>
            <a:endParaRPr lang="en-US" sz="3000" dirty="0"/>
          </a:p>
        </p:txBody>
      </p:sp>
      <p:graphicFrame>
        <p:nvGraphicFramePr>
          <p:cNvPr id="4" name="Engagement mix doughnut" descr=""/>
          <p:cNvGraphicFramePr/>
          <p:nvPr/>
        </p:nvGraphicFramePr>
        <p:xfrm>
          <a:off x="594360" y="160020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7220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Conversion at each step</a:t>
            </a:r>
            <a:endParaRPr lang="en-US" sz="1600" dirty="0"/>
          </a:p>
        </p:txBody>
      </p:sp>
      <p:sp>
        <p:nvSpPr>
          <p:cNvPr id="6" name="Step row 1"/>
          <p:cNvSpPr/>
          <p:nvPr/>
        </p:nvSpPr>
        <p:spPr>
          <a:xfrm>
            <a:off x="6172200" y="2148840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EEF6F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0" y="2221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Impressions → Reach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2221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77.4%</a:t>
            </a:r>
            <a:endParaRPr lang="en-US" sz="1600" dirty="0"/>
          </a:p>
        </p:txBody>
      </p:sp>
      <p:sp>
        <p:nvSpPr>
          <p:cNvPr id="9" name="Step row 2"/>
          <p:cNvSpPr/>
          <p:nvPr/>
        </p:nvSpPr>
        <p:spPr>
          <a:xfrm>
            <a:off x="6172200" y="2770632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0" y="28437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 → Like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8437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15.0%</a:t>
            </a:r>
            <a:endParaRPr lang="en-US" sz="1600" dirty="0"/>
          </a:p>
        </p:txBody>
      </p:sp>
      <p:sp>
        <p:nvSpPr>
          <p:cNvPr id="12" name="Step row 3"/>
          <p:cNvSpPr/>
          <p:nvPr/>
        </p:nvSpPr>
        <p:spPr>
          <a:xfrm>
            <a:off x="6172200" y="3392424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EEF6F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0" y="3465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 → Comment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0" y="34655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1.87%</a:t>
            </a:r>
            <a:endParaRPr lang="en-US" sz="1600" dirty="0"/>
          </a:p>
        </p:txBody>
      </p:sp>
      <p:sp>
        <p:nvSpPr>
          <p:cNvPr id="15" name="Step row 4"/>
          <p:cNvSpPr/>
          <p:nvPr/>
        </p:nvSpPr>
        <p:spPr>
          <a:xfrm>
            <a:off x="6172200" y="4014216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 → Save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40873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0.90%</a:t>
            </a:r>
            <a:endParaRPr lang="en-US" sz="1600" dirty="0"/>
          </a:p>
        </p:txBody>
      </p:sp>
      <p:sp>
        <p:nvSpPr>
          <p:cNvPr id="18" name="Step row 5"/>
          <p:cNvSpPr/>
          <p:nvPr/>
        </p:nvSpPr>
        <p:spPr>
          <a:xfrm>
            <a:off x="6172200" y="4636008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EEF6F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0" y="4709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 → Share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0.82%</a:t>
            </a:r>
            <a:endParaRPr lang="en-US" sz="1600" dirty="0"/>
          </a:p>
        </p:txBody>
      </p:sp>
      <p:sp>
        <p:nvSpPr>
          <p:cNvPr id="21" name="Step row 6"/>
          <p:cNvSpPr/>
          <p:nvPr/>
        </p:nvSpPr>
        <p:spPr>
          <a:xfrm>
            <a:off x="6172200" y="5257800"/>
            <a:ext cx="53949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0" y="5330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Profile visit → Follow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69264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29.9%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INSIGHT 2 · FORMAT &amp; TIMING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Stories and Reels lead; Friday and Saturday win</a:t>
            </a:r>
            <a:endParaRPr lang="en-US" sz="3000" dirty="0"/>
          </a:p>
        </p:txBody>
      </p:sp>
      <p:graphicFrame>
        <p:nvGraphicFramePr>
          <p:cNvPr id="4" name="Format lift chart" descr=""/>
          <p:cNvGraphicFramePr/>
          <p:nvPr/>
        </p:nvGraphicFramePr>
        <p:xfrm>
          <a:off x="594360" y="16002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Day lift chart" descr=""/>
          <p:cNvGraphicFramePr/>
          <p:nvPr/>
        </p:nvGraphicFramePr>
        <p:xfrm>
          <a:off x="6217920" y="16002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Best slot banner"/>
          <p:cNvSpPr/>
          <p:nvPr/>
        </p:nvSpPr>
        <p:spPr>
          <a:xfrm>
            <a:off x="594360" y="5349240"/>
            <a:ext cx="11018520" cy="822960"/>
          </a:xfrm>
          <a:prstGeom prst="roundRect">
            <a:avLst>
              <a:gd name="adj" fmla="val 11111"/>
            </a:avLst>
          </a:prstGeom>
          <a:solidFill>
            <a:srgbClr val="0B2A2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3B2"/>
                </a:solidFill>
              </a:rPr>
              <a:t>Best single slot: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Story on Saturday (18.76%) · Reel on Wednesday (18.73%) · Reel on Friday (18.70%)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INSIGHT 3 · CAMPAIGNS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Tutorials and creator collabs win; static festive offers lag</a:t>
            </a:r>
            <a:endParaRPr lang="en-US" sz="3000" dirty="0"/>
          </a:p>
        </p:txBody>
      </p:sp>
      <p:graphicFrame>
        <p:nvGraphicFramePr>
          <p:cNvPr id="4" name="Campaign lift chart" descr=""/>
          <p:cNvGraphicFramePr/>
          <p:nvPr/>
        </p:nvGraphicFramePr>
        <p:xfrm>
          <a:off x="594360" y="160020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omb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257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 × campaign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Story + Tutorial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96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Reel + Influencer Collab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96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Video + Tutorial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96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Video + Product Launch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96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Image + Product Launch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276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Image + Festive Offer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276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55080" y="51206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Tutorials appear 3% more often among top-quartile posts than expected; Festive Offers 3% less often.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INSIGHT 4 · HASHTAGS &amp; SOURCES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#VeganBeauty earns most; organic trails partner posts</a:t>
            </a:r>
            <a:endParaRPr lang="en-US" sz="3000" dirty="0"/>
          </a:p>
        </p:txBody>
      </p:sp>
      <p:graphicFrame>
        <p:nvGraphicFramePr>
          <p:cNvPr id="4" name="Hashtag lift chart" descr=""/>
          <p:cNvGraphicFramePr/>
          <p:nvPr/>
        </p:nvGraphicFramePr>
        <p:xfrm>
          <a:off x="594360" y="16002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Source lift chart" descr=""/>
          <p:cNvGraphicFramePr/>
          <p:nvPr/>
        </p:nvGraphicFramePr>
        <p:xfrm>
          <a:off x="6217920" y="16002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Hashtag count note"/>
          <p:cNvSpPr/>
          <p:nvPr/>
        </p:nvSpPr>
        <p:spPr>
          <a:xfrm>
            <a:off x="594360" y="5349240"/>
            <a:ext cx="11018520" cy="822960"/>
          </a:xfrm>
          <a:prstGeom prst="roundRect">
            <a:avLst>
              <a:gd name="adj" fmla="val 11111"/>
            </a:avLst>
          </a:prstGeom>
          <a:solidFill>
            <a:srgbClr val="EEF6F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967A"/>
                </a:solidFill>
              </a:rPr>
              <a:t>2 hashtags per post: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18.65% ER vs 18.44% with a single tag. Paid posts only match the average (−0.02%) — review boost spend.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PLAYBOOK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 more, do less, test next</a:t>
            </a:r>
            <a:endParaRPr lang="en-US" sz="3000" dirty="0"/>
          </a:p>
        </p:txBody>
      </p:sp>
      <p:sp>
        <p:nvSpPr>
          <p:cNvPr id="4" name="Do more column"/>
          <p:cNvSpPr/>
          <p:nvPr/>
        </p:nvSpPr>
        <p:spPr>
          <a:xfrm>
            <a:off x="594360" y="16459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</p:spPr>
      </p:sp>
      <p:sp>
        <p:nvSpPr>
          <p:cNvPr id="5" name="Do more icon bg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14967A"/>
          </a:solidFill>
          <a:ln/>
        </p:spPr>
      </p:sp>
      <p:pic>
        <p:nvPicPr>
          <p:cNvPr id="6" name="Image 0" descr="Do mo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 more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Story tutorials and Reel creator collabs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Friday / Saturday for key launches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 focused hashtags: #VeganBeauty, #BoldLooks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"Save this look" and "send to a friend" prompts</a:t>
            </a:r>
            <a:endParaRPr lang="en-US" sz="1500" dirty="0"/>
          </a:p>
        </p:txBody>
      </p:sp>
      <p:sp>
        <p:nvSpPr>
          <p:cNvPr id="9" name="Do less column"/>
          <p:cNvSpPr/>
          <p:nvPr/>
        </p:nvSpPr>
        <p:spPr>
          <a:xfrm>
            <a:off x="4343400" y="16459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</p:spPr>
      </p:sp>
      <p:sp>
        <p:nvSpPr>
          <p:cNvPr id="10" name="Do less icon bg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F2766B"/>
          </a:solidFill>
          <a:ln/>
        </p:spPr>
      </p:sp>
      <p:pic>
        <p:nvPicPr>
          <p:cNvPr id="11" name="Image 1" descr="Do les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933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 less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Static-image festive offers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Single-hashtag posts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Boosting posts without a proven 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Pure product shots with no how-to angle</a:t>
            </a:r>
            <a:endParaRPr lang="en-US" sz="1500" dirty="0"/>
          </a:p>
        </p:txBody>
      </p:sp>
      <p:sp>
        <p:nvSpPr>
          <p:cNvPr id="14" name="Test next column"/>
          <p:cNvSpPr/>
          <p:nvPr/>
        </p:nvSpPr>
        <p:spPr>
          <a:xfrm>
            <a:off x="8092440" y="164592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</p:spPr>
      </p:sp>
      <p:sp>
        <p:nvSpPr>
          <p:cNvPr id="15" name="Test next icon bg"/>
          <p:cNvSpPr/>
          <p:nvPr/>
        </p:nvSpPr>
        <p:spPr>
          <a:xfrm>
            <a:off x="8366760" y="1874520"/>
            <a:ext cx="640080" cy="640080"/>
          </a:xfrm>
          <a:prstGeom prst="ellipse">
            <a:avLst/>
          </a:prstGeom>
          <a:solidFill>
            <a:srgbClr val="5B6B70"/>
          </a:solidFill>
          <a:ln/>
        </p:spPr>
      </p:sp>
      <p:pic>
        <p:nvPicPr>
          <p:cNvPr id="16" name="Image 2" descr="Test nex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933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Test next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7889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Carousel how-to posts (tag as own format)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Posting hour (needs timestamp data)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Paid boosts only on top-ER hidden gems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Comment-to-enter shade-match giveaways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9436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9436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30-60-90 day plan to deepen engagement</a:t>
            </a:r>
            <a:endParaRPr lang="en-US" sz="3000" dirty="0"/>
          </a:p>
        </p:txBody>
      </p:sp>
      <p:sp>
        <p:nvSpPr>
          <p:cNvPr id="4" name="Timeline line"/>
          <p:cNvSpPr/>
          <p:nvPr/>
        </p:nvSpPr>
        <p:spPr>
          <a:xfrm>
            <a:off x="1097280" y="2240280"/>
            <a:ext cx="9966960" cy="0"/>
          </a:xfrm>
          <a:prstGeom prst="line">
            <a:avLst/>
          </a:prstGeom>
          <a:noFill/>
          <a:ln w="38100">
            <a:solidFill>
              <a:srgbClr val="7FD3B2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4967A"/>
          </a:solidFill>
          <a:ln w="38100">
            <a:solidFill>
              <a:srgbClr val="F7FA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Days 1–30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Quick wins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57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Save/share CTA on every tutorial · move festive offers to Reels &amp; Stories · standardise on 2 hashtags</a:t>
            </a:r>
            <a:endParaRPr lang="en-US" sz="1400" dirty="0"/>
          </a:p>
        </p:txBody>
      </p:sp>
      <p:sp>
        <p:nvSpPr>
          <p:cNvPr id="10" name="Step 2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14967A"/>
          </a:solidFill>
          <a:ln w="38100">
            <a:solidFill>
              <a:srgbClr val="F7FA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Days 31–60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New formats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57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Weekly Saturday Story Tutorial series · monthly #BoldLooks creator collab · weekly save &amp; share tracking</a:t>
            </a:r>
            <a:endParaRPr lang="en-US" sz="1400" dirty="0"/>
          </a:p>
        </p:txBody>
      </p:sp>
      <p:sp>
        <p:nvSpPr>
          <p:cNvPr id="15" name="Step 3"/>
          <p:cNvSpPr/>
          <p:nvPr/>
        </p:nvSpPr>
        <p:spPr>
          <a:xfrm>
            <a:off x="8366760" y="1920240"/>
            <a:ext cx="640080" cy="640080"/>
          </a:xfrm>
          <a:prstGeom prst="ellipse">
            <a:avLst/>
          </a:prstGeom>
          <a:solidFill>
            <a:srgbClr val="14967A"/>
          </a:solidFill>
          <a:ln w="38100">
            <a:solidFill>
              <a:srgbClr val="F7FA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Days 61–90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Optimise spend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657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Shift paid budget to top-5% ER posts · review results and reset targets</a:t>
            </a:r>
            <a:endParaRPr lang="en-US" sz="1400" dirty="0"/>
          </a:p>
        </p:txBody>
      </p:sp>
      <p:sp>
        <p:nvSpPr>
          <p:cNvPr id="20" name="Targets banner"/>
          <p:cNvSpPr/>
          <p:nvPr/>
        </p:nvSpPr>
        <p:spPr>
          <a:xfrm>
            <a:off x="594360" y="5257800"/>
            <a:ext cx="11018520" cy="914400"/>
          </a:xfrm>
          <a:prstGeom prst="roundRect">
            <a:avLst>
              <a:gd name="adj" fmla="val 10000"/>
            </a:avLst>
          </a:prstGeom>
          <a:solidFill>
            <a:srgbClr val="0B2A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3B2"/>
                </a:solidFill>
              </a:rPr>
              <a:t>90-day targets: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save rate 0.90% → 1.2%   ·   profile visits 3.0% → 4.0% of reach   ·   ER above 18.8%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Data gaps to close next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FD3B2"/>
                </a:solidFill>
              </a:rPr>
              <a:t>Caption text · posting hour · ad spend · follower history · carousel tag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Adding these unlocks keyword, time-of-day and paid-ROI analysis.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shish Teal">
  <a:themeElements>
    <a:clrScheme name="Kashish Teal">
      <a:dk1>
        <a:srgbClr val="0F1B20"/>
      </a:dk1>
      <a:lt1>
        <a:srgbClr val="FFFFFF"/>
      </a:lt1>
      <a:dk2>
        <a:srgbClr val="0B2A2F"/>
      </a:dk2>
      <a:lt2>
        <a:srgbClr val="EEF6F4"/>
      </a:lt2>
      <a:accent1>
        <a:srgbClr val="14967A"/>
      </a:accent1>
      <a:accent2>
        <a:srgbClr val="F2766B"/>
      </a:accent2>
      <a:accent3>
        <a:srgbClr val="7FD3B2"/>
      </a:accent3>
      <a:accent4>
        <a:srgbClr val="5B6B70"/>
      </a:accent4>
      <a:accent5>
        <a:srgbClr val="C98500"/>
      </a:accent5>
      <a:accent6>
        <a:srgbClr val="9085E9"/>
      </a:accent6>
      <a:hlink>
        <a:srgbClr val="14967A"/>
      </a:hlink>
      <a:folHlink>
        <a:srgbClr val="0B2A2F"/>
      </a:folHlink>
    </a:clrScheme>
    <a:fontScheme name="Kashish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 Cosmetics on Instagram – What Drives Engagement</dc:title>
  <dc:subject>PptxGenJS Presentation</dc:subject>
  <dc:creator>Kashish Haresh Sonar</dc:creator>
  <cp:lastModifiedBy>Kashish Haresh Sonar</cp:lastModifiedBy>
  <cp:revision>1</cp:revision>
  <dcterms:created xsi:type="dcterms:W3CDTF">2026-10-17T11:32:33Z</dcterms:created>
  <dcterms:modified xsi:type="dcterms:W3CDTF">2026-10-17T11:32:33Z</dcterms:modified>
</cp:coreProperties>
</file>